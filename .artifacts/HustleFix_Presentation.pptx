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C1D30"/>
                </a:solidFill>
              </a:rPr>
              <a:t>HustleFix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73443"/>
                </a:solidFill>
              </a:rPr>
              <a:t>Android Service Marketplace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6858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76C4"/>
                </a:solidFill>
              </a:rPr>
              <a:t>Detailed System Design &amp; Technical Implementation</a:t>
            </a:r>
          </a:p>
          <a:p>
            <a:pPr algn="l"/>
          </a:p>
          <a:p>
            <a:pPr algn="l"/>
            <a:r>
              <a:rPr sz="1800" b="0">
                <a:solidFill>
                  <a:srgbClr val="273443"/>
                </a:solidFill>
              </a:rPr>
              <a:t>Presenter: [Your Name / Team Names]</a:t>
            </a:r>
          </a:p>
          <a:p>
            <a:pPr algn="l"/>
            <a:r>
              <a:rPr sz="1800" b="0">
                <a:solidFill>
                  <a:srgbClr val="273443"/>
                </a:solidFill>
              </a:rPr>
              <a:t>Supervisor: [Supervisor Name]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54480"/>
            <a:ext cx="2743200" cy="393192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0F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0" y="2103120"/>
            <a:ext cx="2011680" cy="6400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0" y="3108960"/>
            <a:ext cx="2011680" cy="731520"/>
          </a:xfrm>
          <a:prstGeom prst="rect">
            <a:avLst/>
          </a:prstGeom>
          <a:solidFill>
            <a:srgbClr val="0F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4206240"/>
            <a:ext cx="2011680" cy="64008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Introduction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The modern gig economy depends on reliable, verified local service providers.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Traditional booking methods are often limited by trust, fraud risk, and communication gaps.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HustleFix centralizes the marketplace and provides a secure digital platform for Android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Financial fraud and booking disputes remain major concerns for service transactions.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Users struggle to find verified professionals quickly and transparently.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The project focuses on secure payments, verification, and milestone-based completion tracking.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Project Scope &amp; 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Scope includes Android app delivery, role-based access, and payment integration.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Target users are Clients, Service Providers, and Administrators.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The solution is designed for household repairs, tutoring, cleaning, and emergency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Core Functional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User &amp; auth management with role-based access control.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Profile and service management for service providers.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73443"/>
                </a:solidFill>
                <a:latin typeface="Aptos"/>
              </a:rPr>
              <a:t>Search, discovery, booking lifecycle tracking, and emergency request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97889"/>
                </a:solidFill>
              </a:rPr>
              <a:t>Client-server model with cloud services and payment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468880" cy="1645920"/>
          </a:xfrm>
          <a:prstGeom prst="roundRect">
            <a:avLst/>
          </a:prstGeom>
          <a:solidFill>
            <a:srgbClr val="0F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Android Client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Jetpack Compose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ViewModels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03120"/>
            <a:ext cx="2926080" cy="164592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Cloud Backend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Firebase Auth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Firestore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FCM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2926080" cy="164592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External Gateway</a:t>
            </a:r>
          </a:p>
          <a:p>
            <a:pPr algn="ctr"/>
            <a:r>
              <a:rPr sz="1700" b="1">
                <a:solidFill>
                  <a:srgbClr val="FFFFFF"/>
                </a:solidFill>
              </a:rPr>
              <a:t>PayFast API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2834640"/>
            <a:ext cx="1005840" cy="457200"/>
          </a:xfrm>
          <a:prstGeom prst="rightArrow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315200" y="2834640"/>
            <a:ext cx="640080" cy="457200"/>
          </a:xfrm>
          <a:prstGeom prst="rightArrow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Software Architecture &amp; Layering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97889"/>
                </a:solidFill>
              </a:rPr>
              <a:t>Clean separation of concerns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834640" cy="2560320"/>
          </a:xfrm>
          <a:prstGeom prst="roundRect">
            <a:avLst/>
          </a:prstGeom>
          <a:solidFill>
            <a:srgbClr val="0F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Presentation Layer</a:t>
            </a:r>
          </a:p>
          <a:p/>
          <a:p>
            <a:pPr algn="ctr"/>
            <a:r>
              <a:rPr sz="1800" b="1">
                <a:solidFill>
                  <a:srgbClr val="FFFFFF"/>
                </a:solidFill>
              </a:rPr>
              <a:t>Jetpack Compose UI screens</a:t>
            </a:r>
          </a:p>
          <a:p>
            <a:pPr algn="ctr"/>
            <a:r>
              <a:rPr sz="1800" b="1">
                <a:solidFill>
                  <a:srgbClr val="FFFFFF"/>
                </a:solidFill>
              </a:rPr>
              <a:t>Navigation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011680"/>
            <a:ext cx="2834640" cy="256032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Business Logic Layer</a:t>
            </a:r>
          </a:p>
          <a:p/>
          <a:p>
            <a:pPr algn="ctr"/>
            <a:r>
              <a:rPr sz="1800" b="1">
                <a:solidFill>
                  <a:srgbClr val="FFFFFF"/>
                </a:solidFill>
              </a:rPr>
              <a:t>ViewModels</a:t>
            </a:r>
          </a:p>
          <a:p>
            <a:pPr algn="ctr"/>
            <a:r>
              <a:rPr sz="1800" b="1">
                <a:solidFill>
                  <a:srgbClr val="FFFFFF"/>
                </a:solidFill>
              </a:rPr>
              <a:t>Repositories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011680"/>
            <a:ext cx="2834640" cy="256032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Data Layer</a:t>
            </a:r>
          </a:p>
          <a:p/>
          <a:p>
            <a:pPr algn="ctr"/>
            <a:r>
              <a:rPr sz="1800" b="1">
                <a:solidFill>
                  <a:srgbClr val="FFFFFF"/>
                </a:solidFill>
              </a:rPr>
              <a:t>Firestore collections</a:t>
            </a:r>
          </a:p>
          <a:p>
            <a:pPr algn="ctr"/>
            <a:r>
              <a:rPr sz="1800" b="1">
                <a:solidFill>
                  <a:srgbClr val="FFFFFF"/>
                </a:solidFill>
              </a:rPr>
              <a:t>Local session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Booking Vault &amp; Payment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97889"/>
                </a:solidFill>
              </a:rPr>
              <a:t>Secure fund holding and milestone-based release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108960" cy="1554480"/>
          </a:xfrm>
          <a:prstGeom prst="roundRect">
            <a:avLst/>
          </a:prstGeom>
          <a:solidFill>
            <a:srgbClr val="0F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</a:rPr>
              <a:t>Step 1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Client confirms booking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and pays through PayFast or wallet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566160" cy="155448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</a:rPr>
              <a:t>Step 2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Funds are held securely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in the Booking Vault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828800"/>
            <a:ext cx="3108960" cy="155448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</a:rPr>
              <a:t>Step 3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Provider completes service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Job is verified before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73443"/>
                </a:solidFill>
              </a:rPr>
              <a:t>The Booking Vault protects both parties by preventing immediate payment release until successful job verification.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Security Handshake &amp; Job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97889"/>
                </a:solidFill>
              </a:rPr>
              <a:t>4-digit OTP verification and trust-building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Upon booking acceptance, a unique 4-digit OTP is generated for the job.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When the service provider completes the task, the client validates the OTP.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A correct entry triggers fund release from the Booking Vault to the provider balance.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Ratings and reviews are linked to completed bookings to strengthen accountability.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97889"/>
                </a:solidFill>
              </a:rPr>
              <a:t>Firebase Firestore collections and financial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194560" cy="2926080"/>
          </a:xfrm>
          <a:prstGeom prst="roundRect">
            <a:avLst/>
          </a:prstGeom>
          <a:solidFill>
            <a:srgbClr val="0F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Users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Workers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Services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Bookings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920240"/>
            <a:ext cx="2286000" cy="2926080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Payments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Booking Vault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Completion Codes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2560320" cy="292608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Ratings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Messages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Service records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Audit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468880"/>
            <a:ext cx="2468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73443"/>
                </a:solidFill>
              </a:rPr>
              <a:t>Firestore stores application data as JSON-like documents for rapid real-time updates and scalable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System Interfaces &amp; UI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97889"/>
                </a:solidFill>
              </a:rPr>
              <a:t>Core user experiences across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Client Dashboard: search, booking, and tracking experience for service requests.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Service Provider Dashboard: active jobs, earnings summary, and job management.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Admin Dashboard: monitoring, user administration, and platform oversight.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Payment &amp; Checkout: secure PayFast integration with a seamless transaction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Testing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97889"/>
                </a:solidFill>
              </a:rPr>
              <a:t>Quality assurance and responsiveness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Testing strategy includes unit, UI, and device-based evaluation of app workflows.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Performance target: smooth Jetpack Compose rendering with low-latency Firestore synchronization.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Secure HTTPS communication adds transport-layer protection for client-to-backend traffic.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273443"/>
                </a:solidFill>
                <a:latin typeface="Aptos"/>
              </a:rPr>
              <a:t>The system is designed for trusted, scalable service operations across multiple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C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D30"/>
                </a:solidFill>
              </a:rPr>
              <a:t>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97889"/>
                </a:solidFill>
              </a:rPr>
              <a:t>Project outcomes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1206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73443"/>
                </a:solidFill>
              </a:rPr>
              <a:t>HustleFix delivers a secure and feature-rich mobile service marketplace.</a:t>
            </a:r>
          </a:p>
          <a:p>
            <a:r>
              <a:rPr sz="2000">
                <a:solidFill>
                  <a:srgbClr val="273443"/>
                </a:solidFill>
              </a:rPr>
              <a:t>The platform resolves trust and payment challenges through Booking Vault controls and OTP-based completion.</a:t>
            </a:r>
          </a:p>
          <a:p>
            <a:r>
              <a:rPr sz="2000">
                <a:solidFill>
                  <a:srgbClr val="273443"/>
                </a:solidFill>
              </a:rPr>
              <a:t>The architecture demonstrates a practical, scalable digital marketplace model for Android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49377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443"/>
                </a:solidFill>
              </a:rPr>
              <a:t>Future improvements:</a:t>
            </a:r>
          </a:p>
          <a:p>
            <a:r>
              <a:rPr sz="1700" b="0">
                <a:solidFill>
                  <a:srgbClr val="273443"/>
                </a:solidFill>
              </a:rPr>
              <a:t>• GPS tracking for provider dispatch</a:t>
            </a:r>
          </a:p>
          <a:p>
            <a:r>
              <a:rPr sz="1700" b="0">
                <a:solidFill>
                  <a:srgbClr val="273443"/>
                </a:solidFill>
              </a:rPr>
              <a:t>• Multi-currency and additional payment gateways</a:t>
            </a:r>
          </a:p>
          <a:p>
            <a:r>
              <a:rPr sz="1700" b="0">
                <a:solidFill>
                  <a:srgbClr val="273443"/>
                </a:solidFill>
              </a:rPr>
              <a:t>• AI-driven recommendations and smarter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C1D30"/>
                </a:solidFill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273443"/>
                </a:solidFill>
              </a:rPr>
              <a:t>Thank you for your attention.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F76C4"/>
                </a:solidFill>
              </a:rPr>
              <a:t>GitHub: https://github.com/teeboy57/hustlefix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D30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